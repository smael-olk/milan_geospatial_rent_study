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9" r:id="rId3"/>
    <p:sldId id="262" r:id="rId4"/>
    <p:sldId id="263" r:id="rId5"/>
    <p:sldId id="260" r:id="rId6"/>
    <p:sldId id="265" r:id="rId7"/>
    <p:sldId id="264" r:id="rId8"/>
    <p:sldId id="266" r:id="rId9"/>
    <p:sldId id="267" r:id="rId10"/>
    <p:sldId id="269" r:id="rId11"/>
    <p:sldId id="268" r:id="rId1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6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8123" autoAdjust="0"/>
  </p:normalViewPr>
  <p:slideViewPr>
    <p:cSldViewPr snapToGrid="0">
      <p:cViewPr varScale="1">
        <p:scale>
          <a:sx n="61" d="100"/>
          <a:sy n="61" d="100"/>
        </p:scale>
        <p:origin x="106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8FC050-9C1D-4A44-B4C3-0E30B77BCAC1}" type="datetimeFigureOut">
              <a:rPr lang="it-IT" smtClean="0"/>
              <a:t>23/06/2026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D5E19-E7CA-45F6-8D44-210B4E61BA9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0400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7190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64" b="42715"/>
          <a:stretch/>
        </p:blipFill>
        <p:spPr>
          <a:xfrm>
            <a:off x="0" y="1485900"/>
            <a:ext cx="12192000" cy="53721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6675"/>
            <a:ext cx="4552632" cy="1348649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838200" y="2441055"/>
            <a:ext cx="10515600" cy="1325563"/>
          </a:xfrm>
        </p:spPr>
        <p:txBody>
          <a:bodyPr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Thesis Title</a:t>
            </a:r>
            <a:endParaRPr lang="it-IT" dirty="0"/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393353" y="5415995"/>
            <a:ext cx="3527854" cy="3198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Supervisor</a:t>
            </a:r>
            <a:endParaRPr lang="it-IT" dirty="0"/>
          </a:p>
        </p:txBody>
      </p:sp>
      <p:sp>
        <p:nvSpPr>
          <p:cNvPr id="17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393353" y="5888254"/>
            <a:ext cx="3527854" cy="3198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Co-Supervisor</a:t>
            </a:r>
            <a:endParaRPr lang="it-IT" dirty="0"/>
          </a:p>
        </p:txBody>
      </p:sp>
      <p:sp>
        <p:nvSpPr>
          <p:cNvPr id="20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8305798" y="5415995"/>
            <a:ext cx="3527854" cy="31985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Candidate</a:t>
            </a:r>
            <a:endParaRPr lang="it-IT" dirty="0"/>
          </a:p>
        </p:txBody>
      </p:sp>
      <p:sp>
        <p:nvSpPr>
          <p:cNvPr id="21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8305798" y="5888254"/>
            <a:ext cx="3527854" cy="31985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Academic Year</a:t>
            </a:r>
            <a:endParaRPr lang="it-IT" dirty="0"/>
          </a:p>
        </p:txBody>
      </p:sp>
      <p:sp>
        <p:nvSpPr>
          <p:cNvPr id="22" name="TextBox 21"/>
          <p:cNvSpPr txBox="1"/>
          <p:nvPr userDrawn="1"/>
        </p:nvSpPr>
        <p:spPr>
          <a:xfrm>
            <a:off x="3527766" y="6144994"/>
            <a:ext cx="51714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aseline="0" dirty="0">
                <a:solidFill>
                  <a:schemeClr val="bg1"/>
                </a:solidFill>
                <a:latin typeface="+mj-lt"/>
              </a:rPr>
              <a:t>School of Industrial and Information Engineering</a:t>
            </a:r>
          </a:p>
          <a:p>
            <a:pPr algn="ctr"/>
            <a:r>
              <a:rPr lang="it-IT" sz="2000" baseline="0" dirty="0">
                <a:solidFill>
                  <a:schemeClr val="bg1"/>
                </a:solidFill>
                <a:latin typeface="+mj-lt"/>
              </a:rPr>
              <a:t>Master of Science – Mathematical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95274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1" b="2733"/>
          <a:stretch/>
        </p:blipFill>
        <p:spPr>
          <a:xfrm>
            <a:off x="-1" y="6226218"/>
            <a:ext cx="12191999" cy="63178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196" r="782"/>
          <a:stretch/>
        </p:blipFill>
        <p:spPr>
          <a:xfrm>
            <a:off x="0" y="0"/>
            <a:ext cx="12191999" cy="102380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2" y="6267469"/>
            <a:ext cx="3083718" cy="551728"/>
          </a:xfrm>
          <a:prstGeom prst="rect">
            <a:avLst/>
          </a:prstGeom>
        </p:spPr>
      </p:pic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11013988" y="6359546"/>
            <a:ext cx="965887" cy="365125"/>
          </a:xfrm>
        </p:spPr>
        <p:txBody>
          <a:bodyPr/>
          <a:lstStyle>
            <a:lvl1pPr>
              <a:defRPr sz="1600" b="1" i="0" baseline="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fld id="{DCE09022-C08B-4F34-B9F0-43AC160DA04C}" type="slidenum">
              <a:rPr lang="it-IT" smtClean="0"/>
              <a:pPr/>
              <a:t>‹#›</a:t>
            </a:fld>
            <a:r>
              <a:rPr lang="it-IT" dirty="0"/>
              <a:t>/XX</a:t>
            </a:r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105355" y="90617"/>
            <a:ext cx="6971271" cy="543697"/>
          </a:xfrm>
        </p:spPr>
        <p:txBody>
          <a:bodyPr>
            <a:normAutofit/>
          </a:bodyPr>
          <a:lstStyle>
            <a:lvl1pPr>
              <a:defRPr sz="2800" b="1" i="1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47988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50178-FFDF-4188-8352-D71733CC4DC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92584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uters.com/markets/europe/italys-central-bank-sees-sharp-rise-rents-amid-student-housing-protests-2023-05-23/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Statistical Analysis of Rental Prices in Milan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sz="2800" dirty="0"/>
              <a:t>Applied Statistics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it-IT" sz="2800" dirty="0"/>
              <a:t>Piercesare Secchi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7549054" y="3702215"/>
            <a:ext cx="3527854" cy="319859"/>
          </a:xfrm>
        </p:spPr>
        <p:txBody>
          <a:bodyPr/>
          <a:lstStyle/>
          <a:p>
            <a:r>
              <a:rPr lang="it-IT" sz="2800" dirty="0"/>
              <a:t>Group 23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it-IT" sz="2800" dirty="0"/>
              <a:t>2025-2026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FF18F0-F977-F27F-DFC1-2FBB799D9E4F}"/>
              </a:ext>
            </a:extLst>
          </p:cNvPr>
          <p:cNvSpPr txBox="1"/>
          <p:nvPr/>
        </p:nvSpPr>
        <p:spPr>
          <a:xfrm>
            <a:off x="8091121" y="4176788"/>
            <a:ext cx="37075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it-IT" dirty="0">
                <a:solidFill>
                  <a:schemeClr val="bg1"/>
                </a:solidFill>
                <a:latin typeface="+mj-lt"/>
              </a:rPr>
              <a:t>Shuhan Jiang</a:t>
            </a:r>
          </a:p>
          <a:p>
            <a:pPr algn="r">
              <a:lnSpc>
                <a:spcPct val="100000"/>
              </a:lnSpc>
            </a:pPr>
            <a:r>
              <a:rPr lang="it-IT" dirty="0">
                <a:solidFill>
                  <a:schemeClr val="bg1"/>
                </a:solidFill>
                <a:latin typeface="+mj-lt"/>
              </a:rPr>
              <a:t>Hu Jiao</a:t>
            </a:r>
          </a:p>
          <a:p>
            <a:pPr algn="r">
              <a:lnSpc>
                <a:spcPct val="100000"/>
              </a:lnSpc>
            </a:pPr>
            <a:r>
              <a:rPr lang="it-IT" dirty="0">
                <a:solidFill>
                  <a:schemeClr val="bg1"/>
                </a:solidFill>
                <a:latin typeface="+mj-lt"/>
              </a:rPr>
              <a:t>A. Ismail Oulkhir</a:t>
            </a:r>
          </a:p>
          <a:p>
            <a:pPr algn="r">
              <a:lnSpc>
                <a:spcPct val="100000"/>
              </a:lnSpc>
            </a:pPr>
            <a:r>
              <a:rPr lang="it-IT" dirty="0">
                <a:solidFill>
                  <a:schemeClr val="bg1"/>
                </a:solidFill>
                <a:latin typeface="+mj-lt"/>
              </a:rPr>
              <a:t>Mathilde Sarah Vigouroux</a:t>
            </a:r>
          </a:p>
          <a:p>
            <a:pPr algn="r">
              <a:lnSpc>
                <a:spcPct val="100000"/>
              </a:lnSpc>
            </a:pPr>
            <a:r>
              <a:rPr lang="it-IT" dirty="0">
                <a:solidFill>
                  <a:schemeClr val="bg1"/>
                </a:solidFill>
                <a:latin typeface="+mj-lt"/>
              </a:rPr>
              <a:t>Jingzhou Yang</a:t>
            </a:r>
          </a:p>
          <a:p>
            <a:pPr algn="r">
              <a:lnSpc>
                <a:spcPct val="100000"/>
              </a:lnSpc>
            </a:pPr>
            <a:endParaRPr lang="it-IT" dirty="0">
              <a:solidFill>
                <a:schemeClr val="bg1"/>
              </a:solidFill>
            </a:endParaRPr>
          </a:p>
          <a:p>
            <a:pPr algn="r"/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361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013988" y="6359546"/>
            <a:ext cx="96588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CE09022-C08B-4F34-B9F0-43AC160DA04C}" type="slidenum">
              <a:rPr lang="it-IT" smtClean="0"/>
              <a:pPr>
                <a:spcAft>
                  <a:spcPts val="600"/>
                </a:spcAft>
              </a:pPr>
              <a:t>2</a:t>
            </a:fld>
            <a:r>
              <a:rPr lang="it-IT" dirty="0"/>
              <a:t>/10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-1" y="395847"/>
            <a:ext cx="11447534" cy="406351"/>
          </a:xfrm>
        </p:spPr>
        <p:txBody>
          <a:bodyPr anchor="ctr">
            <a:normAutofit fontScale="90000"/>
          </a:bodyPr>
          <a:lstStyle/>
          <a:p>
            <a:r>
              <a:rPr lang="it-IT" dirty="0"/>
              <a:t>Introduction : </a:t>
            </a:r>
            <a:r>
              <a:rPr lang="en-GB" dirty="0"/>
              <a:t>The Milanese Student Housing Crisis: A 191,000 Bed Deficit</a:t>
            </a:r>
            <a:br>
              <a:rPr lang="en-GB" dirty="0"/>
            </a:br>
            <a:endParaRPr lang="it-IT" dirty="0"/>
          </a:p>
        </p:txBody>
      </p:sp>
      <p:sp>
        <p:nvSpPr>
          <p:cNvPr id="4" name="Title 8">
            <a:extLst>
              <a:ext uri="{FF2B5EF4-FFF2-40B4-BE49-F238E27FC236}">
                <a16:creationId xmlns:a16="http://schemas.microsoft.com/office/drawing/2014/main" id="{5847C7AF-90BA-9A69-721A-03AC3B14FEC0}"/>
              </a:ext>
            </a:extLst>
          </p:cNvPr>
          <p:cNvSpPr txBox="1">
            <a:spLocks/>
          </p:cNvSpPr>
          <p:nvPr/>
        </p:nvSpPr>
        <p:spPr>
          <a:xfrm>
            <a:off x="-1" y="1881188"/>
            <a:ext cx="6991389" cy="43525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1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100" i="0" dirty="0">
                <a:solidFill>
                  <a:schemeClr val="tx1"/>
                </a:solidFill>
              </a:rPr>
              <a:t>2023 Tent Protests : </a:t>
            </a:r>
            <a:r>
              <a:rPr lang="en-GB" sz="2100" b="0" i="0" dirty="0">
                <a:solidFill>
                  <a:schemeClr val="tx1"/>
                </a:solidFill>
              </a:rPr>
              <a:t>A nation-wide outcry against +10.1% rent hikes.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2100" i="0" dirty="0">
              <a:solidFill>
                <a:schemeClr val="tx1"/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100" i="0" kern="1200" dirty="0">
                <a:solidFill>
                  <a:schemeClr val="tx1"/>
                </a:solidFill>
              </a:rPr>
              <a:t>Reality : </a:t>
            </a:r>
            <a:r>
              <a:rPr lang="en-GB" sz="2100" b="0" i="0" dirty="0">
                <a:solidFill>
                  <a:schemeClr val="tx1"/>
                </a:solidFill>
              </a:rPr>
              <a:t>207,000 students vs. only 16,000 dedicated beds.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2100" i="0" dirty="0">
              <a:solidFill>
                <a:schemeClr val="tx1"/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100" dirty="0">
                <a:solidFill>
                  <a:schemeClr val="tx1"/>
                </a:solidFill>
              </a:rPr>
              <a:t>Low wages + Inflation + Short-term rental (</a:t>
            </a:r>
            <a:r>
              <a:rPr lang="en-GB" sz="2100" dirty="0" err="1">
                <a:solidFill>
                  <a:schemeClr val="tx1"/>
                </a:solidFill>
              </a:rPr>
              <a:t>AirBnb</a:t>
            </a:r>
            <a:r>
              <a:rPr lang="en-GB" sz="2100" dirty="0">
                <a:solidFill>
                  <a:schemeClr val="tx1"/>
                </a:solidFill>
              </a:rPr>
              <a:t>) squeeze = </a:t>
            </a:r>
            <a:r>
              <a:rPr lang="en-GB" sz="2100" b="0" dirty="0">
                <a:solidFill>
                  <a:schemeClr val="tx1"/>
                </a:solidFill>
              </a:rPr>
              <a:t>A market Perfect Storm where students are priced out of their own education.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2100" dirty="0">
              <a:solidFill>
                <a:schemeClr val="tx1"/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100" dirty="0">
                <a:solidFill>
                  <a:schemeClr val="tx1"/>
                </a:solidFill>
              </a:rPr>
              <a:t>Public Policy : </a:t>
            </a:r>
            <a:r>
              <a:rPr lang="en-GB" sz="2100" b="0" dirty="0">
                <a:solidFill>
                  <a:schemeClr val="tx1"/>
                </a:solidFill>
              </a:rPr>
              <a:t>Milano Cortina Olympic Village 2026 </a:t>
            </a:r>
            <a:r>
              <a:rPr lang="en-GB" sz="2100" b="0" i="0" dirty="0">
                <a:solidFill>
                  <a:schemeClr val="tx1"/>
                </a:solidFill>
              </a:rPr>
              <a:t>adds 1,700 beds - meeting only 6% of current unmet demand.</a:t>
            </a:r>
            <a:endParaRPr lang="en-US" sz="2100" b="0" i="0" dirty="0">
              <a:solidFill>
                <a:schemeClr val="tx1"/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100" b="0" i="0" kern="12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47F4FD-0726-5A58-ADDE-49FD32FE79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43" r="9947" b="2"/>
          <a:stretch>
            <a:fillRect/>
          </a:stretch>
        </p:blipFill>
        <p:spPr>
          <a:xfrm>
            <a:off x="6991388" y="1006649"/>
            <a:ext cx="5200611" cy="4467051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34ACE90-66A7-779F-28E6-82A72F519A53}"/>
              </a:ext>
            </a:extLst>
          </p:cNvPr>
          <p:cNvSpPr txBox="1"/>
          <p:nvPr/>
        </p:nvSpPr>
        <p:spPr>
          <a:xfrm>
            <a:off x="7086600" y="5582588"/>
            <a:ext cx="5105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Politecnico</a:t>
            </a:r>
            <a:r>
              <a:rPr lang="en-US" i="1" dirty="0"/>
              <a:t> Di Milano 2023</a:t>
            </a:r>
            <a:r>
              <a:rPr lang="en-US" dirty="0"/>
              <a:t>. </a:t>
            </a:r>
            <a:r>
              <a:rPr lang="en-US" b="1" dirty="0">
                <a:hlinkClick r:id="rId3"/>
              </a:rPr>
              <a:t>Reuters.</a:t>
            </a:r>
            <a:r>
              <a:rPr lang="en-US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1501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444B2-24D5-3983-B02D-76181E17E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E7FD40-676A-737C-4CB5-2FA8D10FD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3988" y="6359546"/>
            <a:ext cx="96588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CE09022-C08B-4F34-B9F0-43AC160DA04C}" type="slidenum">
              <a:rPr lang="it-IT" smtClean="0"/>
              <a:pPr>
                <a:spcAft>
                  <a:spcPts val="600"/>
                </a:spcAft>
              </a:pPr>
              <a:t>3</a:t>
            </a:fld>
            <a:r>
              <a:rPr lang="it-IT" dirty="0"/>
              <a:t>/10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7642A9-1C63-2FF6-3759-5D1008919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33329"/>
            <a:ext cx="11447534" cy="406351"/>
          </a:xfrm>
        </p:spPr>
        <p:txBody>
          <a:bodyPr anchor="ctr">
            <a:normAutofit fontScale="90000"/>
          </a:bodyPr>
          <a:lstStyle/>
          <a:p>
            <a:r>
              <a:rPr lang="en-GB" dirty="0"/>
              <a:t>Data Extraction</a:t>
            </a:r>
            <a:endParaRPr lang="it-IT" dirty="0"/>
          </a:p>
        </p:txBody>
      </p:sp>
      <p:sp>
        <p:nvSpPr>
          <p:cNvPr id="4" name="Title 8">
            <a:extLst>
              <a:ext uri="{FF2B5EF4-FFF2-40B4-BE49-F238E27FC236}">
                <a16:creationId xmlns:a16="http://schemas.microsoft.com/office/drawing/2014/main" id="{54E7726A-0C94-B424-1539-F94D9ABD3A3C}"/>
              </a:ext>
            </a:extLst>
          </p:cNvPr>
          <p:cNvSpPr txBox="1">
            <a:spLocks/>
          </p:cNvSpPr>
          <p:nvPr/>
        </p:nvSpPr>
        <p:spPr>
          <a:xfrm>
            <a:off x="-1" y="1881188"/>
            <a:ext cx="6991389" cy="43525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1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100" i="0" dirty="0">
                <a:solidFill>
                  <a:schemeClr val="tx1"/>
                </a:solidFill>
              </a:rPr>
              <a:t>Extracted Features  </a:t>
            </a:r>
            <a:r>
              <a:rPr lang="en-GB" sz="2100" b="0" i="0" dirty="0">
                <a:solidFill>
                  <a:schemeClr val="tx1"/>
                </a:solidFill>
              </a:rPr>
              <a:t>: "price”  - “</a:t>
            </a:r>
            <a:r>
              <a:rPr lang="en-GB" sz="2100" b="0" i="0" dirty="0" err="1">
                <a:solidFill>
                  <a:schemeClr val="tx1"/>
                </a:solidFill>
              </a:rPr>
              <a:t>N_rooms</a:t>
            </a:r>
            <a:r>
              <a:rPr lang="en-GB" sz="2100" b="0" i="0" dirty="0">
                <a:solidFill>
                  <a:schemeClr val="tx1"/>
                </a:solidFill>
              </a:rPr>
              <a:t>  - “</a:t>
            </a:r>
            <a:r>
              <a:rPr lang="en-GB" sz="2100" b="0" i="0" dirty="0" err="1">
                <a:solidFill>
                  <a:schemeClr val="tx1"/>
                </a:solidFill>
              </a:rPr>
              <a:t>N_bathrooms</a:t>
            </a:r>
            <a:r>
              <a:rPr lang="en-GB" sz="2100" b="0" i="0" dirty="0">
                <a:solidFill>
                  <a:schemeClr val="tx1"/>
                </a:solidFill>
              </a:rPr>
              <a:t>” - "surface” - "floor“  -  "heating” - "features” -"address“ - "macrozone"  - "</a:t>
            </a:r>
            <a:r>
              <a:rPr lang="en-GB" sz="2100" b="0" i="0" dirty="0" err="1">
                <a:solidFill>
                  <a:schemeClr val="tx1"/>
                </a:solidFill>
              </a:rPr>
              <a:t>microzone</a:t>
            </a:r>
            <a:r>
              <a:rPr lang="en-GB" sz="2100" b="0" i="0" dirty="0">
                <a:solidFill>
                  <a:schemeClr val="tx1"/>
                </a:solidFill>
              </a:rPr>
              <a:t>"  - "</a:t>
            </a:r>
            <a:r>
              <a:rPr lang="en-GB" sz="2100" b="0" i="0" dirty="0" err="1">
                <a:solidFill>
                  <a:schemeClr val="tx1"/>
                </a:solidFill>
              </a:rPr>
              <a:t>price_sqm</a:t>
            </a:r>
            <a:r>
              <a:rPr lang="en-GB" sz="2100" b="0" i="0" dirty="0">
                <a:solidFill>
                  <a:schemeClr val="tx1"/>
                </a:solidFill>
              </a:rPr>
              <a:t>”.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100" b="0" i="0" dirty="0">
                <a:solidFill>
                  <a:schemeClr val="tx1"/>
                </a:solidFill>
              </a:rPr>
              <a:t>5363 data instances.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100" b="0" i="0" dirty="0">
                <a:solidFill>
                  <a:schemeClr val="tx1"/>
                </a:solidFill>
              </a:rPr>
              <a:t>One hot encoding of categorical </a:t>
            </a:r>
            <a:r>
              <a:rPr lang="en-GB" sz="2100" b="0" i="0" dirty="0" err="1">
                <a:solidFill>
                  <a:schemeClr val="tx1"/>
                </a:solidFill>
              </a:rPr>
              <a:t>featureslike</a:t>
            </a:r>
            <a:r>
              <a:rPr lang="en-GB" sz="2100" b="0" i="0" dirty="0">
                <a:solidFill>
                  <a:schemeClr val="tx1"/>
                </a:solidFill>
              </a:rPr>
              <a:t> Presence of heating – balcony ….</a:t>
            </a:r>
            <a:endParaRPr lang="en-GB" sz="1200" b="0" i="0" dirty="0">
              <a:solidFill>
                <a:schemeClr val="tx1"/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2100" b="0" i="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3FC136-6436-636B-AE37-AF9E18E24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44" r="5444"/>
          <a:stretch/>
        </p:blipFill>
        <p:spPr>
          <a:xfrm>
            <a:off x="6991388" y="1006649"/>
            <a:ext cx="5200611" cy="4467051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92DAAC-E395-8FE4-E2F8-F9EE24D0CF89}"/>
              </a:ext>
            </a:extLst>
          </p:cNvPr>
          <p:cNvSpPr txBox="1"/>
          <p:nvPr/>
        </p:nvSpPr>
        <p:spPr>
          <a:xfrm>
            <a:off x="6991388" y="5666685"/>
            <a:ext cx="5105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Data extracted from </a:t>
            </a:r>
            <a:r>
              <a:rPr lang="en-US" i="1" dirty="0" err="1"/>
              <a:t>Immobiliare</a:t>
            </a:r>
            <a:r>
              <a:rPr lang="en-US" dirty="0"/>
              <a:t>. 2026.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8722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AD38B-8F82-891F-DCE5-6E8C8B6EA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2F2384-88FA-195D-BB23-C0227F6AB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3988" y="6359546"/>
            <a:ext cx="96588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CE09022-C08B-4F34-B9F0-43AC160DA04C}" type="slidenum">
              <a:rPr lang="it-IT" smtClean="0"/>
              <a:pPr>
                <a:spcAft>
                  <a:spcPts val="600"/>
                </a:spcAft>
              </a:pPr>
              <a:t>4</a:t>
            </a:fld>
            <a:r>
              <a:rPr lang="it-IT" dirty="0"/>
              <a:t>/10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223082A-128E-8CBF-91E7-D61311246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3329"/>
            <a:ext cx="11447534" cy="406351"/>
          </a:xfrm>
        </p:spPr>
        <p:txBody>
          <a:bodyPr anchor="ctr">
            <a:normAutofit fontScale="90000"/>
          </a:bodyPr>
          <a:lstStyle/>
          <a:p>
            <a:r>
              <a:rPr lang="en-GB" dirty="0"/>
              <a:t>Exploratory Spatial Data Analysis</a:t>
            </a:r>
            <a:endParaRPr lang="it-IT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4A5B27-B0FA-E38E-811C-A8EF177D7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44" r="5444"/>
          <a:stretch/>
        </p:blipFill>
        <p:spPr>
          <a:xfrm>
            <a:off x="5089295" y="1506244"/>
            <a:ext cx="3337155" cy="2866440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E5EA09-C35E-59C9-5CEC-9A4BF7101F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1" y="1059373"/>
            <a:ext cx="5166929" cy="347628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710C887-956F-74F4-3BAC-9AB29CA4C20F}"/>
              </a:ext>
            </a:extLst>
          </p:cNvPr>
          <p:cNvSpPr txBox="1">
            <a:spLocks/>
          </p:cNvSpPr>
          <p:nvPr/>
        </p:nvSpPr>
        <p:spPr>
          <a:xfrm>
            <a:off x="-122831" y="4681728"/>
            <a:ext cx="6991389" cy="43525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1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100" b="0" i="0" dirty="0">
                <a:solidFill>
                  <a:schemeClr val="tx1"/>
                </a:solidFill>
              </a:rPr>
              <a:t>Price heatmap , concentration of expensive housing near Geographical Attractors, </a:t>
            </a:r>
          </a:p>
        </p:txBody>
      </p:sp>
    </p:spTree>
    <p:extLst>
      <p:ext uri="{BB962C8B-B14F-4D97-AF65-F5344CB8AC3E}">
        <p14:creationId xmlns:p14="http://schemas.microsoft.com/office/powerpoint/2010/main" val="980212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56796E-F109-C979-57C0-B09C4FF4C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5</a:t>
            </a:fld>
            <a:r>
              <a:rPr lang="it-IT" dirty="0"/>
              <a:t>/10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CECB254-977F-454F-F5D1-8E0D8F474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Question</a:t>
            </a:r>
          </a:p>
        </p:txBody>
      </p:sp>
      <p:sp>
        <p:nvSpPr>
          <p:cNvPr id="4" name="Title 8">
            <a:extLst>
              <a:ext uri="{FF2B5EF4-FFF2-40B4-BE49-F238E27FC236}">
                <a16:creationId xmlns:a16="http://schemas.microsoft.com/office/drawing/2014/main" id="{3711EFD9-B8F9-4293-10B4-77F9FFA72450}"/>
              </a:ext>
            </a:extLst>
          </p:cNvPr>
          <p:cNvSpPr txBox="1">
            <a:spLocks/>
          </p:cNvSpPr>
          <p:nvPr/>
        </p:nvSpPr>
        <p:spPr>
          <a:xfrm>
            <a:off x="838200" y="24410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1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i="0" dirty="0">
                <a:solidFill>
                  <a:schemeClr val="tx1"/>
                </a:solidFill>
              </a:rPr>
              <a:t>Quantifying the Student Premium: A Geospatial Analysis of Spatial and Structural Price Distortions in the Milanese Rental Market </a:t>
            </a:r>
            <a:endParaRPr lang="it-IT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315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F60D6-6744-B819-2ADC-8B1D871FA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664598-3452-894A-C266-DA5953A00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3988" y="6359546"/>
            <a:ext cx="96588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CE09022-C08B-4F34-B9F0-43AC160DA04C}" type="slidenum">
              <a:rPr lang="it-IT" smtClean="0"/>
              <a:pPr>
                <a:spcAft>
                  <a:spcPts val="600"/>
                </a:spcAft>
              </a:pPr>
              <a:t>6</a:t>
            </a:fld>
            <a:r>
              <a:rPr lang="it-IT" dirty="0"/>
              <a:t>/10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4E04B8-6F50-E494-F31D-EFD71E456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133329"/>
            <a:ext cx="11447534" cy="406351"/>
          </a:xfrm>
        </p:spPr>
        <p:txBody>
          <a:bodyPr anchor="ctr">
            <a:normAutofit fontScale="90000"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Discrepancies in prices between Macrozones of Milan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E79312-B921-2998-60B5-BEDE446757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" y="1236404"/>
            <a:ext cx="6565731" cy="418693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44D749A2-7198-2416-FD9E-3CD01386D7F6}"/>
              </a:ext>
            </a:extLst>
          </p:cNvPr>
          <p:cNvSpPr txBox="1">
            <a:spLocks/>
          </p:cNvSpPr>
          <p:nvPr/>
        </p:nvSpPr>
        <p:spPr>
          <a:xfrm>
            <a:off x="3047998" y="5705351"/>
            <a:ext cx="6991389" cy="8900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1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100" i="0" dirty="0">
                <a:solidFill>
                  <a:schemeClr val="tx1"/>
                </a:solidFill>
              </a:rPr>
              <a:t>A guide on how to better choose your room ?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451BF7-06B8-B689-8BED-04BA3E5C6C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6269" y="1236404"/>
            <a:ext cx="6565731" cy="418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634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0FB1F-05F4-03FF-E5D4-C9301BD04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510750-1CC8-FD22-D2E0-76458CC87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3988" y="6359546"/>
            <a:ext cx="96588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CE09022-C08B-4F34-B9F0-43AC160DA04C}" type="slidenum">
              <a:rPr lang="it-IT" smtClean="0"/>
              <a:pPr>
                <a:spcAft>
                  <a:spcPts val="600"/>
                </a:spcAft>
              </a:pPr>
              <a:t>7</a:t>
            </a:fld>
            <a:r>
              <a:rPr lang="it-IT" dirty="0"/>
              <a:t>/10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39A8D5-9E9F-5F5F-8D94-D06C43782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3329"/>
            <a:ext cx="11447534" cy="406351"/>
          </a:xfrm>
        </p:spPr>
        <p:txBody>
          <a:bodyPr anchor="ctr">
            <a:normAutofit fontScale="90000"/>
          </a:bodyPr>
          <a:lstStyle/>
          <a:p>
            <a:r>
              <a:rPr lang="en-GB" dirty="0"/>
              <a:t>Geographical Attractors  &amp; Rent Decay </a:t>
            </a:r>
            <a:endParaRPr lang="it-IT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7D7CC355-13F0-7C08-1A3B-8526EC317CD4}"/>
              </a:ext>
            </a:extLst>
          </p:cNvPr>
          <p:cNvSpPr txBox="1">
            <a:spLocks/>
          </p:cNvSpPr>
          <p:nvPr/>
        </p:nvSpPr>
        <p:spPr>
          <a:xfrm>
            <a:off x="163772" y="4681728"/>
            <a:ext cx="6991389" cy="6312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1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100" b="0" i="0" dirty="0">
                <a:solidFill>
                  <a:schemeClr val="tx1"/>
                </a:solidFill>
              </a:rPr>
              <a:t>Rent Price Decay as distance increases farther from Duomo.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6CA26E-4B0F-A3E4-4BBB-D160FD186C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73" y="1073434"/>
            <a:ext cx="6991389" cy="3608294"/>
          </a:xfrm>
          <a:prstGeom prst="rect">
            <a:avLst/>
          </a:prstGeom>
        </p:spPr>
      </p:pic>
      <p:sp>
        <p:nvSpPr>
          <p:cNvPr id="4" name="Title 8">
            <a:extLst>
              <a:ext uri="{FF2B5EF4-FFF2-40B4-BE49-F238E27FC236}">
                <a16:creationId xmlns:a16="http://schemas.microsoft.com/office/drawing/2014/main" id="{5DA9CA68-D682-C69E-F501-15B9E8A67AB0}"/>
              </a:ext>
            </a:extLst>
          </p:cNvPr>
          <p:cNvSpPr txBox="1">
            <a:spLocks/>
          </p:cNvSpPr>
          <p:nvPr/>
        </p:nvSpPr>
        <p:spPr>
          <a:xfrm>
            <a:off x="7469941" y="2203887"/>
            <a:ext cx="4509934" cy="13473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1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100" i="0" dirty="0">
                <a:solidFill>
                  <a:schemeClr val="tx1"/>
                </a:solidFill>
              </a:rPr>
              <a:t>Bid-Rent Theory : CBD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100" i="0" dirty="0">
                <a:solidFill>
                  <a:schemeClr val="tx1"/>
                </a:solidFill>
              </a:rPr>
              <a:t>Student Bubble (University Proximity)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100" i="0" dirty="0">
                <a:solidFill>
                  <a:schemeClr val="tx1"/>
                </a:solidFill>
              </a:rPr>
              <a:t>Accessibility as price buffer</a:t>
            </a:r>
          </a:p>
        </p:txBody>
      </p:sp>
    </p:spTree>
    <p:extLst>
      <p:ext uri="{BB962C8B-B14F-4D97-AF65-F5344CB8AC3E}">
        <p14:creationId xmlns:p14="http://schemas.microsoft.com/office/powerpoint/2010/main" val="3195051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D10EC-30C9-7D9A-FE46-2B5E6A31C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310AF2-E9E8-CA2E-3D72-2085CF17A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3988" y="6359546"/>
            <a:ext cx="96588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CE09022-C08B-4F34-B9F0-43AC160DA04C}" type="slidenum">
              <a:rPr lang="it-IT" smtClean="0"/>
              <a:pPr>
                <a:spcAft>
                  <a:spcPts val="600"/>
                </a:spcAft>
              </a:pPr>
              <a:t>8</a:t>
            </a:fld>
            <a:r>
              <a:rPr lang="it-IT" dirty="0"/>
              <a:t>/10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88299E-B3AB-834A-4729-95CD54547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3329"/>
            <a:ext cx="11447534" cy="406351"/>
          </a:xfrm>
        </p:spPr>
        <p:txBody>
          <a:bodyPr anchor="ctr">
            <a:normAutofit fontScale="90000"/>
          </a:bodyPr>
          <a:lstStyle/>
          <a:p>
            <a:r>
              <a:rPr lang="en-GB" dirty="0"/>
              <a:t>Enrichment : Facilities – Open DATA</a:t>
            </a:r>
            <a:endParaRPr lang="it-IT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F01731-6F23-3470-5A96-D7E2A2842A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5324"/>
            <a:ext cx="4905704" cy="4905704"/>
          </a:xfrm>
          <a:prstGeom prst="rect">
            <a:avLst/>
          </a:prstGeom>
        </p:spPr>
      </p:pic>
      <p:sp>
        <p:nvSpPr>
          <p:cNvPr id="7" name="Title 8">
            <a:extLst>
              <a:ext uri="{FF2B5EF4-FFF2-40B4-BE49-F238E27FC236}">
                <a16:creationId xmlns:a16="http://schemas.microsoft.com/office/drawing/2014/main" id="{301E2F97-AC0D-AE9A-4361-E20E960EEFC6}"/>
              </a:ext>
            </a:extLst>
          </p:cNvPr>
          <p:cNvSpPr txBox="1">
            <a:spLocks/>
          </p:cNvSpPr>
          <p:nvPr/>
        </p:nvSpPr>
        <p:spPr>
          <a:xfrm>
            <a:off x="8734097" y="1491904"/>
            <a:ext cx="3457903" cy="4352544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1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GB" sz="2100" i="0" dirty="0">
                <a:solidFill>
                  <a:schemeClr val="tx1"/>
                </a:solidFill>
              </a:rPr>
              <a:t>Modelling Approach needs to take into account Spatial Data complementary to decision making process in housing process.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100" i="0" dirty="0">
                <a:solidFill>
                  <a:schemeClr val="tx1"/>
                </a:solidFill>
              </a:rPr>
              <a:t>Metro Stations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100" i="0" dirty="0">
                <a:solidFill>
                  <a:schemeClr val="tx1"/>
                </a:solidFill>
              </a:rPr>
              <a:t>Walkability (Network distances instead of Euclidian)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100" i="0" dirty="0">
                <a:solidFill>
                  <a:schemeClr val="tx1"/>
                </a:solidFill>
              </a:rPr>
              <a:t>proximity to work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100" i="0" dirty="0">
                <a:solidFill>
                  <a:schemeClr val="tx1"/>
                </a:solidFill>
              </a:rPr>
              <a:t>School quality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100" i="0" dirty="0">
                <a:solidFill>
                  <a:schemeClr val="tx1"/>
                </a:solidFill>
              </a:rPr>
              <a:t>safety (crime rates)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100" i="0" dirty="0">
                <a:solidFill>
                  <a:schemeClr val="tx1"/>
                </a:solidFill>
              </a:rPr>
              <a:t>access to amenities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100" i="0" kern="1200" dirty="0">
              <a:solidFill>
                <a:schemeClr val="tx1"/>
              </a:solidFill>
            </a:endParaRPr>
          </a:p>
        </p:txBody>
      </p:sp>
      <p:pic>
        <p:nvPicPr>
          <p:cNvPr id="1026" name="Picture 2" descr="Open Data Comune di Milano">
            <a:extLst>
              <a:ext uri="{FF2B5EF4-FFF2-40B4-BE49-F238E27FC236}">
                <a16:creationId xmlns:a16="http://schemas.microsoft.com/office/drawing/2014/main" id="{FD4C1A40-F76F-86C5-674A-66F2704B1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2357" y="1491904"/>
            <a:ext cx="3841297" cy="4666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1012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7B3F7-971D-C37A-3618-3F1319401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A93C5F-7804-0EB0-3A54-B60D8B794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3988" y="6359546"/>
            <a:ext cx="96588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CE09022-C08B-4F34-B9F0-43AC160DA04C}" type="slidenum">
              <a:rPr lang="it-IT" smtClean="0"/>
              <a:pPr>
                <a:spcAft>
                  <a:spcPts val="600"/>
                </a:spcAft>
              </a:pPr>
              <a:t>9</a:t>
            </a:fld>
            <a:r>
              <a:rPr lang="it-IT" dirty="0"/>
              <a:t>/10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16FA1A-CC9D-8B98-51C0-3ACDD3E8A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3329"/>
            <a:ext cx="11447534" cy="406351"/>
          </a:xfrm>
        </p:spPr>
        <p:txBody>
          <a:bodyPr anchor="ctr">
            <a:normAutofit fontScale="90000"/>
          </a:bodyPr>
          <a:lstStyle/>
          <a:p>
            <a:r>
              <a:rPr lang="it-IT" dirty="0"/>
              <a:t>Statistical Techniques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60A621-88D8-A7E8-0AB6-3D6791A708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80" t="16082" b="11426"/>
          <a:stretch>
            <a:fillRect/>
          </a:stretch>
        </p:blipFill>
        <p:spPr>
          <a:xfrm>
            <a:off x="8176816" y="1016000"/>
            <a:ext cx="4015184" cy="3238500"/>
          </a:xfrm>
          <a:prstGeom prst="rect">
            <a:avLst/>
          </a:prstGeom>
        </p:spPr>
      </p:pic>
      <p:pic>
        <p:nvPicPr>
          <p:cNvPr id="1032" name="Picture 8" descr="Statistical Methods to Analyze Parametric Data: ANOVA">
            <a:extLst>
              <a:ext uri="{FF2B5EF4-FFF2-40B4-BE49-F238E27FC236}">
                <a16:creationId xmlns:a16="http://schemas.microsoft.com/office/drawing/2014/main" id="{5BC31109-EECB-6984-475C-567F540781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79265"/>
            <a:ext cx="4175235" cy="2742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Linear Regression Explained | Towards Data Science">
            <a:extLst>
              <a:ext uri="{FF2B5EF4-FFF2-40B4-BE49-F238E27FC236}">
                <a16:creationId xmlns:a16="http://schemas.microsoft.com/office/drawing/2014/main" id="{6F2C2BFB-614A-3FA7-E268-141F4DDDD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235" y="1847088"/>
            <a:ext cx="4008382" cy="2774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5934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B107E-A45C-E27B-5C6E-9F626AAF7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FE1ADA-F133-0EE6-9EFB-35ED4EAAD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10</a:t>
            </a:fld>
            <a:r>
              <a:rPr lang="it-IT" dirty="0"/>
              <a:t>/10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C8921A-7F6F-B109-E82D-682A5553E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Does Success look like for our project ?</a:t>
            </a:r>
          </a:p>
        </p:txBody>
      </p:sp>
      <p:sp>
        <p:nvSpPr>
          <p:cNvPr id="4" name="Title 8">
            <a:extLst>
              <a:ext uri="{FF2B5EF4-FFF2-40B4-BE49-F238E27FC236}">
                <a16:creationId xmlns:a16="http://schemas.microsoft.com/office/drawing/2014/main" id="{B9EB91E7-8F53-429D-6DD1-64CA84EF2059}"/>
              </a:ext>
            </a:extLst>
          </p:cNvPr>
          <p:cNvSpPr txBox="1">
            <a:spLocks/>
          </p:cNvSpPr>
          <p:nvPr/>
        </p:nvSpPr>
        <p:spPr>
          <a:xfrm>
            <a:off x="838200" y="1560786"/>
            <a:ext cx="10515600" cy="36348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1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C60AA8F-688D-B5C1-74CC-799945DA8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842" y="1974755"/>
            <a:ext cx="11633033" cy="2908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altLang="en-US" sz="2400" b="1" i="1" dirty="0">
                <a:latin typeface="+mj-lt"/>
                <a:ea typeface="+mj-ea"/>
                <a:cs typeface="+mj-cs"/>
              </a:rPr>
              <a:t>Room-Finding Guide</a:t>
            </a:r>
          </a:p>
          <a:p>
            <a:pPr marL="971550" lvl="1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US" altLang="en-US" sz="2400" b="1" i="1" dirty="0">
                <a:latin typeface="+mj-lt"/>
                <a:ea typeface="+mj-ea"/>
                <a:cs typeface="+mj-cs"/>
              </a:rPr>
              <a:t>Goal :  </a:t>
            </a:r>
            <a:r>
              <a:rPr lang="en-US" altLang="en-US" sz="2400" i="1" dirty="0">
                <a:latin typeface="+mj-lt"/>
                <a:ea typeface="+mj-ea"/>
                <a:cs typeface="+mj-cs"/>
              </a:rPr>
              <a:t>data-driven compass to navigate Milan’s rental market.</a:t>
            </a:r>
          </a:p>
          <a:p>
            <a:pPr marL="971550" lvl="1" indent="-51435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lphaLcParenR"/>
            </a:pPr>
            <a:r>
              <a:rPr lang="en-US" altLang="en-US" sz="2400" b="1" i="1" dirty="0">
                <a:latin typeface="+mj-lt"/>
                <a:ea typeface="+mj-ea"/>
                <a:cs typeface="+mj-cs"/>
              </a:rPr>
              <a:t>Outcome: </a:t>
            </a:r>
            <a:r>
              <a:rPr lang="en-US" altLang="en-US" sz="2400" i="1" dirty="0">
                <a:latin typeface="+mj-lt"/>
                <a:ea typeface="+mj-ea"/>
                <a:cs typeface="+mj-cs"/>
              </a:rPr>
              <a:t>Systematics</a:t>
            </a:r>
            <a:r>
              <a:rPr lang="en-US" altLang="en-US" sz="2400" b="1" i="1" dirty="0">
                <a:latin typeface="+mj-lt"/>
                <a:ea typeface="+mj-ea"/>
                <a:cs typeface="+mj-cs"/>
              </a:rPr>
              <a:t> </a:t>
            </a:r>
            <a:r>
              <a:rPr lang="en-US" altLang="en-US" sz="2400" i="1" dirty="0">
                <a:latin typeface="+mj-lt"/>
                <a:ea typeface="+mj-ea"/>
                <a:cs typeface="+mj-cs"/>
              </a:rPr>
              <a:t>Identification of  trade-offs</a:t>
            </a:r>
          </a:p>
          <a:p>
            <a:pPr marR="0"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i="1" dirty="0">
              <a:latin typeface="+mj-lt"/>
              <a:ea typeface="+mj-ea"/>
              <a:cs typeface="+mj-cs"/>
            </a:endParaRPr>
          </a:p>
          <a:p>
            <a:pPr marL="514350" indent="-51435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2400" b="1" i="1" dirty="0">
                <a:latin typeface="+mj-lt"/>
                <a:ea typeface="+mj-ea"/>
                <a:cs typeface="+mj-cs"/>
              </a:rPr>
              <a:t> The Urban Planning Heatmap</a:t>
            </a:r>
          </a:p>
          <a:p>
            <a:pPr marL="971550" lvl="1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US" altLang="en-US" sz="2400" b="1" i="1" dirty="0">
                <a:latin typeface="+mj-lt"/>
                <a:ea typeface="+mj-ea"/>
                <a:cs typeface="+mj-cs"/>
              </a:rPr>
              <a:t>Goal: </a:t>
            </a:r>
            <a:r>
              <a:rPr lang="en-US" altLang="en-US" sz="2400" i="1" dirty="0">
                <a:latin typeface="+mj-lt"/>
                <a:ea typeface="+mj-ea"/>
                <a:cs typeface="+mj-cs"/>
              </a:rPr>
              <a:t>Mapping transit infrastructure and housing cost to guide future development.</a:t>
            </a:r>
          </a:p>
          <a:p>
            <a:pPr marL="971550" lvl="1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US" altLang="en-US" sz="2400" b="1" i="1" dirty="0">
                <a:latin typeface="+mj-lt"/>
                <a:ea typeface="+mj-ea"/>
                <a:cs typeface="+mj-cs"/>
              </a:rPr>
              <a:t>Outcome: </a:t>
            </a:r>
            <a:r>
              <a:rPr lang="en-US" altLang="en-US" sz="2400" i="1" dirty="0">
                <a:latin typeface="+mj-lt"/>
                <a:ea typeface="+mj-ea"/>
                <a:cs typeface="+mj-cs"/>
              </a:rPr>
              <a:t>strategic locations for future student residences.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158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CAAA76-F8F4-86EF-C401-1D6D739DD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11</a:t>
            </a:fld>
            <a:r>
              <a:rPr lang="it-IT" dirty="0"/>
              <a:t>/10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9B5A90-0ADA-7768-88A4-6A9E2DC0F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911" y="2459527"/>
            <a:ext cx="8922177" cy="1938945"/>
          </a:xfrm>
        </p:spPr>
        <p:txBody>
          <a:bodyPr>
            <a:normAutofit/>
          </a:bodyPr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Thank you for you attention and see you soon ! </a:t>
            </a:r>
          </a:p>
        </p:txBody>
      </p:sp>
    </p:spTree>
    <p:extLst>
      <p:ext uri="{BB962C8B-B14F-4D97-AF65-F5344CB8AC3E}">
        <p14:creationId xmlns:p14="http://schemas.microsoft.com/office/powerpoint/2010/main" val="1104263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400</Words>
  <Application>Microsoft Office PowerPoint</Application>
  <PresentationFormat>Widescreen</PresentationFormat>
  <Paragraphs>64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Statistical Analysis of Rental Prices in Milan</vt:lpstr>
      <vt:lpstr>Introduction : The Milanese Student Housing Crisis: A 191,000 Bed Deficit </vt:lpstr>
      <vt:lpstr>Data Extraction</vt:lpstr>
      <vt:lpstr>Exploratory Spatial Data Analysis</vt:lpstr>
      <vt:lpstr>Project Question</vt:lpstr>
      <vt:lpstr>Discrepancies in prices between Macrozones of Milan </vt:lpstr>
      <vt:lpstr>Geographical Attractors  &amp; Rent Decay </vt:lpstr>
      <vt:lpstr>Enrichment : Facilities – Open DATA</vt:lpstr>
      <vt:lpstr>Statistical Techniques</vt:lpstr>
      <vt:lpstr>What Does Success look like for our project ?</vt:lpstr>
      <vt:lpstr>Thank you for you attention and see you soon 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Riccardo Simonetti</dc:creator>
  <cp:lastModifiedBy>Ahmed Ismail Oulkhir</cp:lastModifiedBy>
  <cp:revision>21</cp:revision>
  <dcterms:created xsi:type="dcterms:W3CDTF">2019-02-13T14:58:22Z</dcterms:created>
  <dcterms:modified xsi:type="dcterms:W3CDTF">2026-06-23T17:04:17Z</dcterms:modified>
</cp:coreProperties>
</file>